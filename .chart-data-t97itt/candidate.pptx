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23b6c8f7645b8" /><Relationship Type="http://schemas.openxmlformats.org/officeDocument/2006/relationships/extended-properties" Target="/docProps/app.xml" Id="R5833fd474d48482b" /><Relationship Type="http://schemas.openxmlformats.org/officeDocument/2006/relationships/officeDocument" Target="/ppt/presentation.xml" Id="R303c15345aed44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da842fdc04455"/>
  </p:sldMasterIdLst>
  <p:notesMasterIdLst>
    <p:notesMasterId xmlns:r="http://schemas.openxmlformats.org/officeDocument/2006/relationships" r:id="R3a75c2bd38f443e4"/>
  </p:notesMasterIdLst>
  <p:sldIdLst>
    <p:sldId xmlns:r="http://schemas.openxmlformats.org/officeDocument/2006/relationships" id="256" r:id="R3f472aff02e94176"/>
    <p:sldId xmlns:r="http://schemas.openxmlformats.org/officeDocument/2006/relationships" id="257" r:id="Re87d1aa64f5d494d"/>
    <p:sldId xmlns:r="http://schemas.openxmlformats.org/officeDocument/2006/relationships" id="258" r:id="Rb119def77b28422c"/>
    <p:sldId xmlns:r="http://schemas.openxmlformats.org/officeDocument/2006/relationships" id="259" r:id="R48ef34808b2c4c4a"/>
    <p:sldId xmlns:r="http://schemas.openxmlformats.org/officeDocument/2006/relationships" id="260" r:id="Rf1ecf2b0403a47d4"/>
    <p:sldId xmlns:r="http://schemas.openxmlformats.org/officeDocument/2006/relationships" id="261" r:id="R33f7fbbf68054d9c"/>
    <p:sldId xmlns:r="http://schemas.openxmlformats.org/officeDocument/2006/relationships" id="262" r:id="Refb4ce235f9142d8"/>
    <p:sldId xmlns:r="http://schemas.openxmlformats.org/officeDocument/2006/relationships" id="263" r:id="R8a0df7e983b94177"/>
    <p:sldId xmlns:r="http://schemas.openxmlformats.org/officeDocument/2006/relationships" id="264" r:id="R8d79e45af6114d5c"/>
    <p:sldId xmlns:r="http://schemas.openxmlformats.org/officeDocument/2006/relationships" id="265" r:id="Rd040f46b4d30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c2859b7cb4b6f" /><Relationship Type="http://schemas.openxmlformats.org/officeDocument/2006/relationships/slideMaster" Target="/ppt/slideMasters/slideMaster1.xml" Id="R499da842fdc04455" /><Relationship Type="http://schemas.openxmlformats.org/officeDocument/2006/relationships/notesMaster" Target="/ppt/notesMasters/notesMaster1.xml" Id="R3a75c2bd38f443e4" /><Relationship Type="http://schemas.openxmlformats.org/officeDocument/2006/relationships/presProps" Target="/ppt/presProps.xml" Id="R7a1f2abb858e4a27" /><Relationship Type="http://schemas.openxmlformats.org/officeDocument/2006/relationships/tableStyles" Target="/ppt/tableStyles.xml" Id="R2f6b4ccde1dd435f" /><Relationship Type="http://schemas.openxmlformats.org/officeDocument/2006/relationships/slide" Target="/ppt/slides/slide1.xml" Id="R3f472aff02e94176" /><Relationship Type="http://schemas.openxmlformats.org/officeDocument/2006/relationships/slide" Target="/ppt/slides/slide2.xml" Id="Re87d1aa64f5d494d" /><Relationship Type="http://schemas.openxmlformats.org/officeDocument/2006/relationships/slide" Target="/ppt/slides/slide3.xml" Id="Rb119def77b28422c" /><Relationship Type="http://schemas.openxmlformats.org/officeDocument/2006/relationships/slide" Target="/ppt/slides/slide4.xml" Id="R48ef34808b2c4c4a" /><Relationship Type="http://schemas.openxmlformats.org/officeDocument/2006/relationships/slide" Target="/ppt/slides/slide5.xml" Id="Rf1ecf2b0403a47d4" /><Relationship Type="http://schemas.openxmlformats.org/officeDocument/2006/relationships/slide" Target="/ppt/slides/slide6.xml" Id="R33f7fbbf68054d9c" /><Relationship Type="http://schemas.openxmlformats.org/officeDocument/2006/relationships/slide" Target="/ppt/slides/slide7.xml" Id="Refb4ce235f9142d8" /><Relationship Type="http://schemas.openxmlformats.org/officeDocument/2006/relationships/slide" Target="/ppt/slides/slide8.xml" Id="R8a0df7e983b94177" /><Relationship Type="http://schemas.openxmlformats.org/officeDocument/2006/relationships/slide" Target="/ppt/slides/slide9.xml" Id="R8d79e45af6114d5c" /><Relationship Type="http://schemas.openxmlformats.org/officeDocument/2006/relationships/slide" Target="/ppt/slides/slide10.xml" Id="Rd040f46b4d30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755628b0c5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6429776b264571" /><Relationship Type="http://schemas.openxmlformats.org/officeDocument/2006/relationships/notesMaster" Target="/ppt/notesMasters/notesMaster1.xml" Id="R3189d19474d645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ad2faf0fa42cb" /><Relationship Type="http://schemas.openxmlformats.org/officeDocument/2006/relationships/notesMaster" Target="/ppt/notesMasters/notesMaster1.xml" Id="Rc89addc3b2f1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ff446d7f34f17" /><Relationship Type="http://schemas.openxmlformats.org/officeDocument/2006/relationships/notesMaster" Target="/ppt/notesMasters/notesMaster1.xml" Id="Ra5b05245e650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62ee3a4059480a" /><Relationship Type="http://schemas.openxmlformats.org/officeDocument/2006/relationships/notesMaster" Target="/ppt/notesMasters/notesMaster1.xml" Id="Rbb518bfed2f9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4b7943b1947ee" /><Relationship Type="http://schemas.openxmlformats.org/officeDocument/2006/relationships/notesMaster" Target="/ppt/notesMasters/notesMaster1.xml" Id="R0403bd91fdf2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92c04b48ee4c47" /><Relationship Type="http://schemas.openxmlformats.org/officeDocument/2006/relationships/notesMaster" Target="/ppt/notesMasters/notesMaster1.xml" Id="R0875ddf2b891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e45ec511be4b33" /><Relationship Type="http://schemas.openxmlformats.org/officeDocument/2006/relationships/notesMaster" Target="/ppt/notesMasters/notesMaster1.xml" Id="R0f62ab48ba8e4f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aae47a5024266" /><Relationship Type="http://schemas.openxmlformats.org/officeDocument/2006/relationships/notesMaster" Target="/ppt/notesMasters/notesMaster1.xml" Id="R090ba09a065445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67e65fa4b54ba0" /><Relationship Type="http://schemas.openxmlformats.org/officeDocument/2006/relationships/notesMaster" Target="/ppt/notesMasters/notesMaster1.xml" Id="R308b1e5c0a71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241bb440454547" /><Relationship Type="http://schemas.openxmlformats.org/officeDocument/2006/relationships/notesMaster" Target="/ppt/notesMasters/notesMaster1.xml" Id="Rcaf33aa4b29d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c4255715c4c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e4ad7ebe24b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f1267494441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4d5c33a384b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293dde6c340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045a9a25b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142133-0D79-4A37-819B-8F5814824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152977-2F72-4C30-8241-59512241DC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68C5FF-E485-4A00-B273-30AA2AC77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58383F-751E-4281-8635-02CA5C4F9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DF7376-DB57-405D-B17C-A6A545121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EC2400-371E-4F05-B32D-217E7FFE8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93A90A-F369-4193-B3AE-2AB1AE7EF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C052FF-135B-41F2-A317-A291E9149C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4DE3D4-E8C2-4139-9A31-BEECFAE38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B105D2-50E9-4A0E-A729-A8992C76C2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77764818994e47" /><Relationship Type="http://schemas.openxmlformats.org/officeDocument/2006/relationships/slideLayout" Target="/ppt/slideLayouts/slideLayout1.xml" Id="Rbda33420607745f9" /><Relationship Type="http://schemas.openxmlformats.org/officeDocument/2006/relationships/slideLayout" Target="/ppt/slideLayouts/slideLayout2.xml" Id="R2018bbbebd614386" /><Relationship Type="http://schemas.openxmlformats.org/officeDocument/2006/relationships/slideLayout" Target="/ppt/slideLayouts/slideLayout3.xml" Id="R275d52a766724579" /><Relationship Type="http://schemas.openxmlformats.org/officeDocument/2006/relationships/slideLayout" Target="/ppt/slideLayouts/slideLayout4.xml" Id="R42bba1266d394c4a" /><Relationship Type="http://schemas.openxmlformats.org/officeDocument/2006/relationships/slideLayout" Target="/ppt/slideLayouts/slideLayout5.xml" Id="R04a9018736c6456c" /><Relationship Type="http://schemas.openxmlformats.org/officeDocument/2006/relationships/slideLayout" Target="/ppt/slideLayouts/slideLayout6.xml" Id="Ra4cb4ecbbeb246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33420607745f9"/>
    <p:sldLayoutId xmlns:r="http://schemas.openxmlformats.org/officeDocument/2006/relationships" id="2147483650" r:id="R2018bbbebd614386"/>
    <p:sldLayoutId xmlns:r="http://schemas.openxmlformats.org/officeDocument/2006/relationships" id="2147483651" r:id="R275d52a766724579"/>
    <p:sldLayoutId xmlns:r="http://schemas.openxmlformats.org/officeDocument/2006/relationships" id="2147483652" r:id="R42bba1266d394c4a"/>
    <p:sldLayoutId xmlns:r="http://schemas.openxmlformats.org/officeDocument/2006/relationships" id="2147483653" r:id="R04a9018736c6456c"/>
    <p:sldLayoutId xmlns:r="http://schemas.openxmlformats.org/officeDocument/2006/relationships" id="2147483654" r:id="Ra4cb4ecbbeb246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d921290124b24" /><Relationship Type="http://schemas.openxmlformats.org/officeDocument/2006/relationships/image" Target="/ppt/media/image.jpeg" Id="R4d648db2052f463f" /><Relationship Type="http://schemas.openxmlformats.org/officeDocument/2006/relationships/notesSlide" Target="/ppt/notesSlides/notesSlide1.xml" Id="R74560571d397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f64f327064f75" /><Relationship Type="http://schemas.openxmlformats.org/officeDocument/2006/relationships/image" Target="/ppt/media/image2.jpeg" Id="R7da06703a7c84ea2" /><Relationship Type="http://schemas.openxmlformats.org/officeDocument/2006/relationships/notesSlide" Target="/ppt/notesSlides/notesSlide2.xml" Id="R0133c6af3853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6dbf3b8b940c4" /><Relationship Type="http://schemas.openxmlformats.org/officeDocument/2006/relationships/notesSlide" Target="/ppt/notesSlides/notesSlide3.xml" Id="R47ad3b3058a9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867e56ea342ba" /><Relationship Type="http://schemas.openxmlformats.org/officeDocument/2006/relationships/image" Target="/ppt/media/image3.jpeg" Id="Ra4cda3f81671440a" /><Relationship Type="http://schemas.openxmlformats.org/officeDocument/2006/relationships/image" Target="/ppt/media/image4.jpeg" Id="R1e8d836fcc864c83" /><Relationship Type="http://schemas.openxmlformats.org/officeDocument/2006/relationships/notesSlide" Target="/ppt/notesSlides/notesSlide4.xml" Id="R28f60a83460748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e14daaf5d46a0" /><Relationship Type="http://schemas.openxmlformats.org/officeDocument/2006/relationships/chart" Target="/ppt/slides/charts/chart1.xml" Id="Rd5498466ede74f4b" /><Relationship Type="http://schemas.openxmlformats.org/officeDocument/2006/relationships/notesSlide" Target="/ppt/notesSlides/notesSlide5.xml" Id="Ra25310eaef63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aac933b9f4a37" /><Relationship Type="http://schemas.openxmlformats.org/officeDocument/2006/relationships/notesSlide" Target="/ppt/notesSlides/notesSlide6.xml" Id="Rca8b75b3e2c7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a90f42a5d45b1" /><Relationship Type="http://schemas.openxmlformats.org/officeDocument/2006/relationships/image" Target="/ppt/media/image5.jpeg" Id="R503a20212ead4f42" /><Relationship Type="http://schemas.openxmlformats.org/officeDocument/2006/relationships/notesSlide" Target="/ppt/notesSlides/notesSlide7.xml" Id="R6b0ff74849d14b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a8c7018144468" /><Relationship Type="http://schemas.openxmlformats.org/officeDocument/2006/relationships/chart" Target="/ppt/slides/charts/chart2.xml" Id="Rf07f7683cdd94a7a" /><Relationship Type="http://schemas.openxmlformats.org/officeDocument/2006/relationships/notesSlide" Target="/ppt/notesSlides/notesSlide8.xml" Id="R98a187671c154c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2e3a3b8a7444e" /><Relationship Type="http://schemas.openxmlformats.org/officeDocument/2006/relationships/chart" Target="/ppt/slides/charts/chart3.xml" Id="Reed7c18f757e400e" /><Relationship Type="http://schemas.openxmlformats.org/officeDocument/2006/relationships/image" Target="/ppt/media/image6.jpeg" Id="Rf66e29dfa4934122" /><Relationship Type="http://schemas.openxmlformats.org/officeDocument/2006/relationships/image" Target="/ppt/media/image7.jpeg" Id="Rd69e78148a8f4107" /><Relationship Type="http://schemas.openxmlformats.org/officeDocument/2006/relationships/notesSlide" Target="/ppt/notesSlides/notesSlide9.xml" Id="R8c3ea0c15b8b42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55a9f407e4ce4" /><Relationship Type="http://schemas.openxmlformats.org/officeDocument/2006/relationships/image" Target="/ppt/media/image8.jpeg" Id="Ra8f6290c76774e4c" /><Relationship Type="http://schemas.openxmlformats.org/officeDocument/2006/relationships/notesSlide" Target="/ppt/notesSlides/notesSlide10.xml" Id="R54ffe1ddea264f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ảnh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1000</c:v>
                </c:pt>
                <c:pt idx="1">
                  <c:v>200</c:v>
                </c:pt>
                <c:pt idx="2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mAP@0.50:0.95</c:v>
          </c:tx>
          <c:spPr>
            <a:solidFill xmlns:a="http://schemas.openxmlformats.org/drawingml/2006/main">
              <a:srgbClr val="236B8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0.257</c:v>
                </c:pt>
                <c:pt idx="1">
                  <c:v>0.318</c:v>
                </c:pt>
                <c:pt idx="2">
                  <c:v>0.309</c:v>
                </c:pt>
              </c:numCache>
            </c:numRef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B67A22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0.445</c:v>
                </c:pt>
                <c:pt idx="1">
                  <c:v>0.529</c:v>
                </c:pt>
                <c:pt idx="2">
                  <c:v>0.514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F6B7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FPS</c:v>
          </c:tx>
          <c:spPr>
            <a:solidFill xmlns:a="http://schemas.openxmlformats.org/drawingml/2006/main">
              <a:srgbClr val="3B7D6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SSD300-VGG16</c:v>
                </c:pt>
                <c:pt idx="1">
                  <c:v>YOLOv8s</c:v>
                </c:pt>
                <c:pt idx="2">
                  <c:v>YOLO11x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166.8</c:v>
                </c:pt>
                <c:pt idx="1">
                  <c:v>119.9</c:v>
                </c:pt>
                <c:pt idx="2">
                  <c:v>65.2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1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8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C5212-2FC2-4F65-93A2-B0B88A683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48db2052f463f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0D28E-ED0A-4F6A-9F26-09D09E4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2796B-0A0B-4F44-A46B-72F85F7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08B0B-CFD3-4707-B806-C4BA6C8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PHƯƠNG TIỆN</a:t>
            </a:r>
          </a:p>
          <a:p xmlns:a="http://schemas.openxmlformats.org/drawingml/2006/main">
            <a:pPr algn="l">
              <a:defRPr sz="33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VƯỢT ĐÈN ĐỎ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5ED4A-413F-43EC-BB09-7154289E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thị giác máy tính cho camera giao thông cố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63CDA-DA5C-46F3-A83A-841231C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Nguyễn Tuấn Anh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Lớp 124231</a:t>
            </a:r>
          </a:p>
        </p:txBody>
      </p:sp>
    </p:spTree>
    <p:extLst>
      <p:ext uri="{BB962C8B-B14F-4D97-AF65-F5344CB8AC3E}">
        <p14:creationId xmlns:p14="http://schemas.microsoft.com/office/powerpoint/2010/main" val="499624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ACADA-448F-4463-959A-9A18EECB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8DCE-32B9-486F-AD13-3D64820B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22336-9B58-4CDD-8F4D-59DFC2ED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FB8C-8C54-4926-A712-F6C168E4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Phát hiện một xe chưa đủ để kết luận vi phạm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26CCA-B9DC-4990-9CE1-B921DA6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Hệ thống phải liên kết đúng phương tiện, trạng thái đèn, vạch dừng và thời điểm cắt vạch.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F0B77-CB37-4631-B8E5-3FA03BC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98B91-733E-45F6-9098-07D69B00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từ camera cố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C7E9F-DB0B-4CF9-8474-75B42251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F6F22-EB20-43B0-90A7-8F14025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Sự kiện nghi vấn kèm ảnh bằng chứng và dữ liệu truy vết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67B0C-27B5-4B33-B1C1-DCEF50FEED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06703a7c84ea2"/>
          <a:srcRect xmlns:a="http://schemas.openxmlformats.org/drawingml/2006/main" l="0" t="8244" r="0" b="8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14950" cy="4438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C38FE-C6FA-4E76-8FFB-366542BB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290977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5789F-32CB-4026-95BC-08F4024CF91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191500" y="2514600"/>
            <a:ext cx="6667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BA3ED-C5E1-4E89-BD0D-BE1FB19799D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1885950"/>
            <a:ext cx="666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D9DAD-25CF-4E25-99DC-B55C6311E76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24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ED23AD-CB8D-4D5B-9062-063DCA61C56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1885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0D831-5414-41AD-9AA2-DF356FD16DA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2076450"/>
            <a:ext cx="6477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B5FBB-BE52-432C-A9CC-EFE10BE5F7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76550" y="1885950"/>
            <a:ext cx="6477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9B8869-7A5F-462C-B471-FA0054D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D0CD-4D53-46ED-821A-1833C0D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Hai nhánh nhận diện hợp nhất tại bộ luật sự kiện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C5BC-93AA-4081-A756-FD93878A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A1D28-2716-4E29-BCB7-2BDDEC0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BFEEE-0F97-42BB-B5F8-281BCC0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4DB6F-7590-49D7-878B-40A362FF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C5338-59ED-40ED-BD07-50EBCBAA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+ 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162F9-7EA7-4FAE-A375-C79DC71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99D5-C6A8-4FF3-A13D-299957B8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D7A46-0AB1-4225-BDA7-2DAD1824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xe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2D32B-FDDF-4268-B62B-500E3AF2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AAF73-4AE6-4D74-8C8B-DE9CCD2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E9BD6-C6FB-4EA5-8435-33CE567D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Nhận diện đèn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ROI + MobileNetV2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022AB-42AD-45B9-AA6E-2BDDA35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092CA-5AAC-4712-A8E6-5DCB1FA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59F8D-D7BB-4E61-BDD6-99B00003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Theo dõi ID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5E7AC-5C4F-481F-9EBB-479E3A1D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00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85D53-913C-4180-BA9B-E299F2F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127F3-32B2-49C7-ABDA-0F6EB17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08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Ổn định trạng thái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 khung hình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A1B3B-8C96-45D2-BC7A-FAEACFA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3812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6E326-DD10-421D-8F94-DF58D974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8E107-1DEE-4DC7-972A-129AB2F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Cắt vạch có hướng</a:t>
            </a:r>
          </a:p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sự kiện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EB1AB-F8C7-4537-AAD2-FCEC630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494A8-836F-4C58-B0A3-70E30FFD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Video đã gắn nhãn  ·  JSON/CSV  ·  ảnh toàn cảnh  ·  ảnh cắt phương tiện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E94E9-2846-4CEF-A3A0-D54F4C7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lượt chạy lưu cấu hình, hash checkpoint và trạng thái hoàn tất để có thể kiểm tra lại.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4E443-1875-44C7-97C7-983E653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524049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03D3C-DB1A-4581-89CF-DE2BA418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mô hình đang sử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6E322-0375-4C1D-8EF9-6A1D893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DF9A1-4F9F-4C4F-B47F-677E787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6296E-37C4-4FA7-8ECF-E7EE8579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Phương tiện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E2640-6211-48DF-BF27-E1FE8E9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YOLO11x pretrained COCO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DEF78-FF19-479C-994C-F4103B6B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Phát hiện bicycle, car, motorcycle, bus và truck. Ảnh đầu vào 960, confidence 0,10.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6822-5553-4A1A-9758-8650D02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B47D8-4515-403F-BE72-E86616CE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Duy trì ID khi xe bị che khuất ngắn và giữ các hộp có độ tin cậy thấp cho bước liên kết.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0F004-0BFE-4C3A-BB39-705AE0378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da3f81671440a"/>
          <a:stretch xmlns:a="http://schemas.openxmlformats.org/drawingml/2006/main"/>
        </p:blipFill>
        <p:spPr>
          <a:xfrm xmlns:a="http://schemas.openxmlformats.org/drawingml/2006/main">
            <a:off x="4172451" y="5143500"/>
            <a:ext cx="703847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43186-E67A-4000-AFCD-4D0BA45F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81BB7-14D6-41C8-922C-A0A68CA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Đèn giao thông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5A93A-CEBA-4408-9615-F4C2D1E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+ ROI cố định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D764-3680-416F-95E4-3C05EAF6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YOLO đề xuất vùng đèn. Cấu hình camera xác nhận vùng đèn điều khiển đúng làn.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DD680-4099-4277-B679-61290BD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MobileNetV2 ONNX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C824A-35F8-4AD3-A24C-0193B6F0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Phân loại trạng thái từ crop 224 × 224. Ngưỡng confidence 0,80; đầu ra mơ hồ chuyển thành UNKNOWN.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3F34E-4974-4807-8062-7B40EFA80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d836fcc864c83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875" y="4981575"/>
            <a:ext cx="1571625" cy="1047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32228-53A2-453F-A8BD-F762ED86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507755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9E43D-9766-4253-8256-DFB2BDFC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Bộ dữ liệu và thiết lập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A1C9-C786-4360-AD59-B245FC6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Tập con COCO, cùng phép chia cho ba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B1833-B3F5-4E0E-A50B-E7B8A85A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40B27-F5BD-4984-B50F-EB10D797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F7577CD-5805-4E0A-82DB-D9840959CC64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498466ede74f4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8A76D-1A7D-4603-940F-2ECADDF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1.400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85DDC-CA0A-4831-A47A-0A786A6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tổng cộng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A12A5-24C5-4E59-A765-E289E8F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3.539 / 685 / 762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5F69C-3834-4814-BDA0-E9F90A79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đối tượng trong train / validation /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00359-9C4C-466E-AFFC-40693342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5 lớp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8CF0F-0080-4806-AF5E-85C3B25F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bicycle, car, motorcycle, bus, truck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A59D3-649F-4A60-9AD7-91C12519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537786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1AB2E-0053-4089-90B1-A03934C9E95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01A39-2193-4974-B566-C5B48D0C4FD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29050" y="4429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C3254-DE73-4186-87FA-2B56D38A9C97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3048000"/>
            <a:ext cx="72390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163D1-509E-429C-8F3A-68FB6E6BDCE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485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2F1B3-D3FF-454D-80C8-4360DDE55B7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333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27AE6-A7C7-4D06-9590-FE10B66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Các bước xử lý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2ACD-BE55-479B-83A4-0A8B088E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Luồng xử lý một video từ hiệu chỉnh đến xuất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DEE83-4DB9-4828-8C8B-92AB8D0C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71699-E8CF-4314-9FC9-A7C1179E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F16DC-118C-4A69-81A0-8AB96DA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D9A2F-8DF3-4A69-BFAD-F2F71FD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6197E-29B1-42BB-ABCB-3D7002DB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Nạp video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cấu hình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905EE-E60F-4310-A70C-1DB9565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40E3F-90CB-4D8E-B097-66E6884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4E9F1-749E-4798-A73D-0D606A6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Phát hiện xe,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cập nhật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F8E7-1D86-437A-A2FB-D3B77A5C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14C59-C402-4772-A3D0-340EFF6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39A0C-C926-43ED-9D6D-B7AAC150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Đọc trạng thái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theo làn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68D3-781B-4DFF-8023-ADF9862D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33B6C-31A6-4A4E-8316-D1CE26F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66944-2EB7-455B-9190-1CB6B0A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Tính điểm neo và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quỹ đạo có hướng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B5648-46A0-4C58-9031-B81B1694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5E196-3385-46B2-BECB-59FC5466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7B82C-45E1-44DE-8F2A-A309C2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Kiểm tra cắt vạch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xác nhận 3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F501-473F-4EF7-A67D-996EE433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8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84337-F534-4CD2-8497-7B87DA3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724A2-3855-4C11-81C3-03CC1E6A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Xuất video, sự kiện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và ảnh bằng chứng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F1BD2-5F6D-44C0-B214-3F7C7C8F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2030892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AA9B5-E3DA-4376-9EA2-88A6EEF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Logic xác nhận vi phạm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FA831-F820-44FC-B9CD-EAC3F6A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04635-540B-4BCE-97E8-ECFF678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E0930-CD30-4959-94D2-3E0DCBA59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a20212ead4f42"/>
          <a:stretch xmlns:a="http://schemas.openxmlformats.org/drawingml/2006/main"/>
        </p:blipFill>
        <p:spPr>
          <a:xfrm xmlns:a="http://schemas.openxmlformats.org/drawingml/2006/main">
            <a:off x="2122488" y="1476375"/>
            <a:ext cx="3175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7F9ED-F443-471E-96B4-0EF2239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Sự kiện chỉ được ghi khi đủ bằng chứng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677E-52C8-46EF-9B18-AD2386F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ID xe đã xuất hiện ở phía trước vạch.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Đoạn quỹ đạo cắt đúng đoạn vạch theo hướng giám sát.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Đèn ở trạng thái RED tại thời điểm cắt.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tiếp tục ở phía sau vạch trong 3 frame.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Xe quay lại trước khi đủ xác nhận thì ứng viên bị hủy.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6CE9C-5831-41D8-B855-5431787E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Frame cắt và frame xác nhận được lưu riêng để giữ đúng mốc thời gian.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70712-EA34-4192-A7B5-0FCD105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371393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A8A20-486F-4CF4-AD89-3DEFFE9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quả đánh giá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9D936-081D-4AA0-BEB4-3645FB7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200 ảnh test, confidence 0,25 và IoU 0,50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E43C7-36FD-46A1-B402-AB3A2EC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1A1D9-B255-4FD9-AA26-556A106F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5C46C60-73A7-4BF5-9A62-48BBAE48F291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524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7f7683cdd94a7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2BF28-62FB-4456-AD0C-EA2EE39E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B8E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9A8F1-491D-477F-A86E-6A47DCE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mAP cao nhất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C6EA5-1FC4-4770-B3D2-EB24BF2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0,318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1C4C-B123-44E5-9CF8-69990CC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F1 = 0,529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F7E89-6717-45BE-BD80-59ADBB0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B7D6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7D61"/>
                </a:solidFill>
                <a:latin typeface="Arial"/>
                <a:ea typeface="Arial"/>
                <a:cs typeface="Arial"/>
              </a:rPr>
              <a:t>119,9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FA617-1E88-4C6A-9842-E60742D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Đo batch 1, FP32 trên NVIDIA H100. FPS chỉ tính detector.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CB74E-CB94-4B9D-AD4E-BCE8317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1627067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FBEC6-1CF1-419D-A400-56688C5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Tốc độ và bằng chứng sự kiện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75B01-32F6-40FC-A754-D3F7953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68D1D-AD95-4417-9059-468DEAD1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D053E28-5457-4EC5-9FB5-CD66D2B56652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d7c18f757e400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3B4D5-8C9F-48A4-B3B1-1ED79BDC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SSD nhanh nhất; YOLOv8s có độ chính xác cao hơn và chỉ 11,1 triệu tham số.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51B11-1664-48D5-B7A8-91874964B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e29dfa4934122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71625"/>
            <a:ext cx="2333625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1C696-44DE-43C2-867A-6C6B30132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e78148a8f4107"/>
          <a:srcRect xmlns:a="http://schemas.openxmlformats.org/drawingml/2006/main" l="12879" t="0" r="1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1571625"/>
            <a:ext cx="2333625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8740F-A9E4-4B4F-AF7E-AA999A70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Ảnh toàn cảnh giữ đồng thời phương tiện, vạch và trạng thái nút giao để người vận hành kiểm tra lại.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68CE2-1A2E-49CB-AB21-E6B35E57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D879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D8790"/>
                </a:solidFill>
                <a:latin typeface="Arial"/>
                <a:ea typeface="Arial"/>
                <a:cs typeface="Arial"/>
              </a:rPr>
              <a:t>Nguyễn Tuấn Anh  ·  Lớp 124231</a:t>
            </a:r>
          </a:p>
        </p:txBody>
      </p:sp>
    </p:spTree>
    <p:extLst>
      <p:ext uri="{BB962C8B-B14F-4D97-AF65-F5344CB8AC3E}">
        <p14:creationId xmlns:p14="http://schemas.microsoft.com/office/powerpoint/2010/main" val="2141675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BEC14-DED8-4D67-BE60-3C86F79F7B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6290c76774e4c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33D8B-515B-4305-AEEF-4C3C25E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1100C-3C7A-465F-B152-6A5874F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3293-A766-4673-A106-D9A8836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FD3A-E3AD-4E5C-9FB2-D6CF390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YOLOv8s đạt cân bằng tốt nhất trên tập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ECCB2-72F9-4CF6-B23F-A12D3CD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6B8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6B8E"/>
                </a:solidFill>
                <a:latin typeface="Arial"/>
                <a:ea typeface="Arial"/>
                <a:cs typeface="Arial"/>
              </a:rPr>
              <a:t>mAP@0.50:0.95 = 0,318 · F1 = 0,529 · 119,9 FPS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8B106-9C65-41EB-B839-4DC88D56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5032C-73F8-43B1-B5E5-F0E1C6A9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Giới hạn cần xử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5284E-59E7-460B-875D-27B0E74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Chưa có ground truth sự kiện độc lập. Dữ liệu COCO chưa đại diện đầy đủ cho camera và giao thông Việt Nam.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947B1-C5B9-45BF-BF40-ABEB2AF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05F2A-7521-4D68-9362-EBA2C664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Gán nhãn theo camera, đánh giá tracking, trạng thái đèn và F1 ở mức sự kiện.</a:t>
            </a:r>
          </a:p>
        </p:txBody>
      </p:sp>
    </p:spTree>
    <p:extLst>
      <p:ext uri="{BB962C8B-B14F-4D97-AF65-F5344CB8AC3E}">
        <p14:creationId xmlns:p14="http://schemas.microsoft.com/office/powerpoint/2010/main" val="720642154"/>
      </p:ext>
    </p:extLst>
  </p:cSld>
</p:sld>
</file>

<file path=ppt/theme/theme1.xml><?xml version="1.0" encoding="utf-8"?>
<a:theme xmlns:a="http://schemas.openxmlformats.org/drawingml/2006/main" name="ChatGPT">
  <a:themeElements>
    <a:clrScheme name="Minimal Traffic">
      <a:dk1>
        <a:srgbClr val="000000"/>
      </a:dk1>
      <a:lt1>
        <a:srgbClr val="FFFFFF"/>
      </a:lt1>
      <a:dk2>
        <a:srgbClr val="172A3A"/>
      </a:dk2>
      <a:lt2>
        <a:srgbClr val="EEF2F4"/>
      </a:lt2>
      <a:accent1>
        <a:srgbClr val="236B8E"/>
      </a:accent1>
      <a:accent2>
        <a:srgbClr val="5E9DBA"/>
      </a:accent2>
      <a:accent3>
        <a:srgbClr val="3B7D61"/>
      </a:accent3>
      <a:accent4>
        <a:srgbClr val="B67A22"/>
      </a:accent4>
      <a:accent5>
        <a:srgbClr val="B23A35"/>
      </a:accent5>
      <a:accent6>
        <a:srgbClr val="5F6B76"/>
      </a:accent6>
      <a:hlink>
        <a:srgbClr val="236B8E"/>
      </a:hlink>
      <a:folHlink>
        <a:srgbClr val="172A3A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imal Traf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2026-10-16T02:10:54.9370000Z</dcterms:created>
  <dcterms:modified xsi:type="dcterms:W3CDTF">2026-10-16T02:10:54.9370000Z</dcterms:modified>
</coreProperties>
</file>