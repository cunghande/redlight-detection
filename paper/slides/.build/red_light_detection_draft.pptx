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8011ec47264084" /><Relationship Type="http://schemas.openxmlformats.org/officeDocument/2006/relationships/extended-properties" Target="/docProps/app.xml" Id="R60ddb7cfdeec460b" /><Relationship Type="http://schemas.openxmlformats.org/officeDocument/2006/relationships/officeDocument" Target="/ppt/presentation.xml" Id="R6a02da706bf241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0ac9c32f2349ad"/>
  </p:sldMasterIdLst>
  <p:notesMasterIdLst>
    <p:notesMasterId xmlns:r="http://schemas.openxmlformats.org/officeDocument/2006/relationships" r:id="R1a0bbcd0aae64ee5"/>
  </p:notesMasterIdLst>
  <p:sldIdLst>
    <p:sldId xmlns:r="http://schemas.openxmlformats.org/officeDocument/2006/relationships" id="256" r:id="R3c40e1d7fdd945e7"/>
    <p:sldId xmlns:r="http://schemas.openxmlformats.org/officeDocument/2006/relationships" id="257" r:id="R17e75405902b4fed"/>
    <p:sldId xmlns:r="http://schemas.openxmlformats.org/officeDocument/2006/relationships" id="258" r:id="R07b2478a458f4b91"/>
    <p:sldId xmlns:r="http://schemas.openxmlformats.org/officeDocument/2006/relationships" id="259" r:id="R509312d2ebb24619"/>
    <p:sldId xmlns:r="http://schemas.openxmlformats.org/officeDocument/2006/relationships" id="260" r:id="R199898ee546341dc"/>
    <p:sldId xmlns:r="http://schemas.openxmlformats.org/officeDocument/2006/relationships" id="261" r:id="R287bd7ddec06483d"/>
    <p:sldId xmlns:r="http://schemas.openxmlformats.org/officeDocument/2006/relationships" id="262" r:id="R4a29e96a4b3a4573"/>
    <p:sldId xmlns:r="http://schemas.openxmlformats.org/officeDocument/2006/relationships" id="263" r:id="R1d38fcf257cb4577"/>
    <p:sldId xmlns:r="http://schemas.openxmlformats.org/officeDocument/2006/relationships" id="264" r:id="R37517603c77743f7"/>
    <p:sldId xmlns:r="http://schemas.openxmlformats.org/officeDocument/2006/relationships" id="265" r:id="R0d36212f14364c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f2c358c54940ce" /><Relationship Type="http://schemas.openxmlformats.org/officeDocument/2006/relationships/slideMaster" Target="/ppt/slideMasters/slideMaster1.xml" Id="R440ac9c32f2349ad" /><Relationship Type="http://schemas.openxmlformats.org/officeDocument/2006/relationships/notesMaster" Target="/ppt/notesMasters/notesMaster1.xml" Id="R1a0bbcd0aae64ee5" /><Relationship Type="http://schemas.openxmlformats.org/officeDocument/2006/relationships/presProps" Target="/ppt/presProps.xml" Id="R5ed4405d3c2d4602" /><Relationship Type="http://schemas.openxmlformats.org/officeDocument/2006/relationships/tableStyles" Target="/ppt/tableStyles.xml" Id="Ra721bf9863ac4a3f" /><Relationship Type="http://schemas.openxmlformats.org/officeDocument/2006/relationships/slide" Target="/ppt/slides/slide1.xml" Id="R3c40e1d7fdd945e7" /><Relationship Type="http://schemas.openxmlformats.org/officeDocument/2006/relationships/slide" Target="/ppt/slides/slide2.xml" Id="R17e75405902b4fed" /><Relationship Type="http://schemas.openxmlformats.org/officeDocument/2006/relationships/slide" Target="/ppt/slides/slide3.xml" Id="R07b2478a458f4b91" /><Relationship Type="http://schemas.openxmlformats.org/officeDocument/2006/relationships/slide" Target="/ppt/slides/slide4.xml" Id="R509312d2ebb24619" /><Relationship Type="http://schemas.openxmlformats.org/officeDocument/2006/relationships/slide" Target="/ppt/slides/slide5.xml" Id="R199898ee546341dc" /><Relationship Type="http://schemas.openxmlformats.org/officeDocument/2006/relationships/slide" Target="/ppt/slides/slide6.xml" Id="R287bd7ddec06483d" /><Relationship Type="http://schemas.openxmlformats.org/officeDocument/2006/relationships/slide" Target="/ppt/slides/slide7.xml" Id="R4a29e96a4b3a4573" /><Relationship Type="http://schemas.openxmlformats.org/officeDocument/2006/relationships/slide" Target="/ppt/slides/slide8.xml" Id="R1d38fcf257cb4577" /><Relationship Type="http://schemas.openxmlformats.org/officeDocument/2006/relationships/slide" Target="/ppt/slides/slide9.xml" Id="R37517603c77743f7" /><Relationship Type="http://schemas.openxmlformats.org/officeDocument/2006/relationships/slide" Target="/ppt/slides/slide10.xml" Id="R0d36212f14364c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5199c33dc645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1239f157d64289" /><Relationship Type="http://schemas.openxmlformats.org/officeDocument/2006/relationships/notesMaster" Target="/ppt/notesMasters/notesMaster1.xml" Id="Rae2ecd36528e4c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3a1dbf302143fc" /><Relationship Type="http://schemas.openxmlformats.org/officeDocument/2006/relationships/notesMaster" Target="/ppt/notesMasters/notesMaster1.xml" Id="R23be249bb9d941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1286b9c1b84f79" /><Relationship Type="http://schemas.openxmlformats.org/officeDocument/2006/relationships/notesMaster" Target="/ppt/notesMasters/notesMaster1.xml" Id="R306af66b77d94a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b8fe2823b840f8" /><Relationship Type="http://schemas.openxmlformats.org/officeDocument/2006/relationships/notesMaster" Target="/ppt/notesMasters/notesMaster1.xml" Id="R015d680f153249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0a8260772d4991" /><Relationship Type="http://schemas.openxmlformats.org/officeDocument/2006/relationships/notesMaster" Target="/ppt/notesMasters/notesMaster1.xml" Id="R936f84b656d14d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97bd838c20414f" /><Relationship Type="http://schemas.openxmlformats.org/officeDocument/2006/relationships/notesMaster" Target="/ppt/notesMasters/notesMaster1.xml" Id="Rde608254a9db46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4410cccf9d4ca8" /><Relationship Type="http://schemas.openxmlformats.org/officeDocument/2006/relationships/notesMaster" Target="/ppt/notesMasters/notesMaster1.xml" Id="R80f6aade416947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39774a28684eaa" /><Relationship Type="http://schemas.openxmlformats.org/officeDocument/2006/relationships/notesMaster" Target="/ppt/notesMasters/notesMaster1.xml" Id="R24a26f1733b64c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d07e06f39f4f87" /><Relationship Type="http://schemas.openxmlformats.org/officeDocument/2006/relationships/notesMaster" Target="/ppt/notesMasters/notesMaster1.xml" Id="R9338cfbe38a44e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38ed66234f4082" /><Relationship Type="http://schemas.openxmlformats.org/officeDocument/2006/relationships/notesMaster" Target="/ppt/notesMasters/notesMaster1.xml" Id="R1dbb8612b66f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ed6c60aea4a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8f1ec530440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6e443f5c241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b76df62d445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bbdde91b142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916998e4642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0719D4-4A5F-4C2F-8D2C-17DC78558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D9C7E0-5DE3-4A2B-8501-B1CB113987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66978E-1A57-4673-B39A-3DF047727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40A2C7-9557-443D-AED3-C87E901CDA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8BCD34-5224-4D46-99D2-CEE2151B6C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CF9F72-49C9-4B08-9C49-965EDB839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C8DB9F-D78C-4A63-8E8C-4CC352A76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E0157D-4579-4FA9-8B91-A23F23513E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823770-B2F8-4AE5-AD61-41E774EEEC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94D392-CC87-48E5-978C-10C503692D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8770ae0e0040f2" /><Relationship Type="http://schemas.openxmlformats.org/officeDocument/2006/relationships/slideLayout" Target="/ppt/slideLayouts/slideLayout1.xml" Id="R23bf311bd61841e2" /><Relationship Type="http://schemas.openxmlformats.org/officeDocument/2006/relationships/slideLayout" Target="/ppt/slideLayouts/slideLayout2.xml" Id="R109c2fb329f143fa" /><Relationship Type="http://schemas.openxmlformats.org/officeDocument/2006/relationships/slideLayout" Target="/ppt/slideLayouts/slideLayout3.xml" Id="Rca652e1e20784587" /><Relationship Type="http://schemas.openxmlformats.org/officeDocument/2006/relationships/slideLayout" Target="/ppt/slideLayouts/slideLayout4.xml" Id="Rc45515e6b6004bc3" /><Relationship Type="http://schemas.openxmlformats.org/officeDocument/2006/relationships/slideLayout" Target="/ppt/slideLayouts/slideLayout5.xml" Id="Rd60fe86ad94545db" /><Relationship Type="http://schemas.openxmlformats.org/officeDocument/2006/relationships/slideLayout" Target="/ppt/slideLayouts/slideLayout6.xml" Id="R62f89b02d6ab43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bf311bd61841e2"/>
    <p:sldLayoutId xmlns:r="http://schemas.openxmlformats.org/officeDocument/2006/relationships" id="2147483650" r:id="R109c2fb329f143fa"/>
    <p:sldLayoutId xmlns:r="http://schemas.openxmlformats.org/officeDocument/2006/relationships" id="2147483651" r:id="Rca652e1e20784587"/>
    <p:sldLayoutId xmlns:r="http://schemas.openxmlformats.org/officeDocument/2006/relationships" id="2147483652" r:id="Rc45515e6b6004bc3"/>
    <p:sldLayoutId xmlns:r="http://schemas.openxmlformats.org/officeDocument/2006/relationships" id="2147483653" r:id="Rd60fe86ad94545db"/>
    <p:sldLayoutId xmlns:r="http://schemas.openxmlformats.org/officeDocument/2006/relationships" id="2147483654" r:id="R62f89b02d6ab43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24f6564a444e4" /><Relationship Type="http://schemas.openxmlformats.org/officeDocument/2006/relationships/image" Target="/ppt/media/image.jpeg" Id="Rb87b364d92c5435a" /><Relationship Type="http://schemas.openxmlformats.org/officeDocument/2006/relationships/notesSlide" Target="/ppt/notesSlides/notesSlide1.xml" Id="Rdffe460a050640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9b2f30a4674d2a" /><Relationship Type="http://schemas.openxmlformats.org/officeDocument/2006/relationships/image" Target="/ppt/media/image2.jpeg" Id="R877096d593b94800" /><Relationship Type="http://schemas.openxmlformats.org/officeDocument/2006/relationships/notesSlide" Target="/ppt/notesSlides/notesSlide2.xml" Id="R7b7b78ad8f214d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8e40ab1459491d" /><Relationship Type="http://schemas.openxmlformats.org/officeDocument/2006/relationships/notesSlide" Target="/ppt/notesSlides/notesSlide3.xml" Id="R0c282f52eaa14d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fc325d5a94ff7" /><Relationship Type="http://schemas.openxmlformats.org/officeDocument/2006/relationships/image" Target="/ppt/media/image3.jpeg" Id="Rcac1dd827e4f4994" /><Relationship Type="http://schemas.openxmlformats.org/officeDocument/2006/relationships/image" Target="/ppt/media/image4.jpeg" Id="R57444e834c2a4c85" /><Relationship Type="http://schemas.openxmlformats.org/officeDocument/2006/relationships/notesSlide" Target="/ppt/notesSlides/notesSlide4.xml" Id="R417ca1e9310447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96542572f4bb9" /><Relationship Type="http://schemas.openxmlformats.org/officeDocument/2006/relationships/chart" Target="/ppt/slides/charts/chart1.xml" Id="Rffb140b2ccdd4bed" /><Relationship Type="http://schemas.openxmlformats.org/officeDocument/2006/relationships/notesSlide" Target="/ppt/notesSlides/notesSlide5.xml" Id="Re55ab98afeee46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b508057c14290" /><Relationship Type="http://schemas.openxmlformats.org/officeDocument/2006/relationships/notesSlide" Target="/ppt/notesSlides/notesSlide6.xml" Id="Rb2364b66433642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646f11ac3463f" /><Relationship Type="http://schemas.openxmlformats.org/officeDocument/2006/relationships/image" Target="/ppt/media/image5.jpeg" Id="R1dcd2f34b9ef4109" /><Relationship Type="http://schemas.openxmlformats.org/officeDocument/2006/relationships/notesSlide" Target="/ppt/notesSlides/notesSlide7.xml" Id="R43b300848f7141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820c07f1a4a11" /><Relationship Type="http://schemas.openxmlformats.org/officeDocument/2006/relationships/chart" Target="/ppt/slides/charts/chart2.xml" Id="R909811ea88ce4052" /><Relationship Type="http://schemas.openxmlformats.org/officeDocument/2006/relationships/notesSlide" Target="/ppt/notesSlides/notesSlide8.xml" Id="Rfe2ae975827740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30ec633594510" /><Relationship Type="http://schemas.openxmlformats.org/officeDocument/2006/relationships/chart" Target="/ppt/slides/charts/chart3.xml" Id="Rde0b189c23724ccc" /><Relationship Type="http://schemas.openxmlformats.org/officeDocument/2006/relationships/image" Target="/ppt/media/image6.jpeg" Id="R8d662af355a44320" /><Relationship Type="http://schemas.openxmlformats.org/officeDocument/2006/relationships/image" Target="/ppt/media/image7.jpeg" Id="Rf5bef0516cdc41d7" /><Relationship Type="http://schemas.openxmlformats.org/officeDocument/2006/relationships/notesSlide" Target="/ppt/notesSlides/notesSlide9.xml" Id="Rbda726e356a644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acee76a6a4f8f" /><Relationship Type="http://schemas.openxmlformats.org/officeDocument/2006/relationships/image" Target="/ppt/media/image8.jpeg" Id="R2cdcc4abda144a83" /><Relationship Type="http://schemas.openxmlformats.org/officeDocument/2006/relationships/notesSlide" Target="/ppt/notesSlides/notesSlide10.xml" Id="R6b5e43d1157a4db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Số ảnh</c:v>
          </c:tx>
          <c:spPr>
            <a:solidFill xmlns:a="http://schemas.openxmlformats.org/drawingml/2006/main">
              <a:srgbClr val="236B8E"/>
            </a:solidFill>
          </c:spPr>
          <c:invertIfNegative val="0"/>
          <c:cat>
            <c:strLit>
              <c:ptCount val="3"/>
              <c:pt idx="0">
                <c:v>Train</c:v>
              </c:pt>
              <c:pt idx="1">
                <c:v>Validation</c:v>
              </c:pt>
              <c:pt idx="2">
                <c:v>Test</c:v>
              </c:pt>
            </c:strLit>
          </c:cat>
          <c:val>
            <c:numLit>
              <c:formatCode>General</c:formatCode>
              <c:ptCount val="3"/>
              <c:pt idx="0">
                <c:v>1000</c:v>
              </c:pt>
              <c:pt idx="1">
                <c:v>200</c:v>
              </c:pt>
              <c:pt idx="2">
                <c:v>200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mAP@0.50:0.95</c:v>
          </c:tx>
          <c:spPr>
            <a:solidFill xmlns:a="http://schemas.openxmlformats.org/drawingml/2006/main">
              <a:srgbClr val="236B8E"/>
            </a:solidFill>
          </c:spPr>
          <c:invertIfNegative val="0"/>
          <c:cat>
            <c:strLit>
              <c:ptCount val="3"/>
              <c:pt idx="0">
                <c:v>SSD300-VGG16</c:v>
              </c:pt>
              <c:pt idx="1">
                <c:v>YOLOv8s</c:v>
              </c:pt>
              <c:pt idx="2">
                <c:v>YOLO11x</c:v>
              </c:pt>
            </c:strLit>
          </c:cat>
          <c:val>
            <c:numLit>
              <c:formatCode>0.0</c:formatCode>
              <c:ptCount val="3"/>
              <c:pt idx="0">
                <c:v>0.257</c:v>
              </c:pt>
              <c:pt idx="1">
                <c:v>0.318</c:v>
              </c:pt>
              <c:pt idx="2">
                <c:v>0.309</c:v>
              </c:pt>
            </c:numLit>
          </c:val>
        </c:ser>
        <c:ser>
          <c:idx val="1"/>
          <c:order val="1"/>
          <c:tx>
            <c:v>F1</c:v>
          </c:tx>
          <c:spPr>
            <a:solidFill xmlns:a="http://schemas.openxmlformats.org/drawingml/2006/main">
              <a:srgbClr val="B67A22"/>
            </a:solidFill>
          </c:spPr>
          <c:invertIfNegative val="0"/>
          <c:cat>
            <c:strLit>
              <c:ptCount val="3"/>
              <c:pt idx="0">
                <c:v>SSD300-VGG16</c:v>
              </c:pt>
              <c:pt idx="1">
                <c:v>YOLOv8s</c:v>
              </c:pt>
              <c:pt idx="2">
                <c:v>YOLO11x</c:v>
              </c:pt>
            </c:strLit>
          </c:cat>
          <c:val>
            <c:numLit>
              <c:formatCode>0.0</c:formatCode>
              <c:ptCount val="3"/>
              <c:pt idx="0">
                <c:v>0.445</c:v>
              </c:pt>
              <c:pt idx="1">
                <c:v>0.529</c:v>
              </c:pt>
              <c:pt idx="2">
                <c:v>0.514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F6B7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FPS</c:v>
          </c:tx>
          <c:spPr>
            <a:solidFill xmlns:a="http://schemas.openxmlformats.org/drawingml/2006/main">
              <a:srgbClr val="3B7D61"/>
            </a:solidFill>
          </c:spPr>
          <c:invertIfNegative val="0"/>
          <c:cat>
            <c:strLit>
              <c:ptCount val="3"/>
              <c:pt idx="0">
                <c:v>SSD300-VGG16</c:v>
              </c:pt>
              <c:pt idx="1">
                <c:v>YOLOv8s</c:v>
              </c:pt>
              <c:pt idx="2">
                <c:v>YOLO11x</c:v>
              </c:pt>
            </c:strLit>
          </c:cat>
          <c:val>
            <c:numLit>
              <c:formatCode>General</c:formatCode>
              <c:ptCount val="3"/>
              <c:pt idx="0">
                <c:v>166.8</c:v>
              </c:pt>
              <c:pt idx="1">
                <c:v>119.9</c:v>
              </c:pt>
              <c:pt idx="2">
                <c:v>65.2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48D0C-BAB7-4FA0-AAA4-29A0D004D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b364d92c5435a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ED054-FAB4-408E-8173-17A0AF66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7F1A3-210C-466F-9BFD-73BA5E2D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C5CE8-A23F-483E-B52C-5ED5158D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PHÁT HIỆN PHƯƠNG TIỆN</a:t>
            </a:r>
          </a:p>
          <a:p xmlns:a="http://schemas.openxmlformats.org/drawingml/2006/main">
            <a: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VƯỢT ĐÈN ĐỎ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57728-00BC-4A28-9007-2FEACF6C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Hệ thống thị giác máy tính cho camera giao thông cố định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51C01-35D6-4CF4-9CEC-8FD4739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Nguyễn Tuấn Anh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Lớp 124231</a:t>
            </a:r>
          </a:p>
        </p:txBody>
      </p:sp>
    </p:spTree>
    <p:extLst>
      <p:ext uri="{BB962C8B-B14F-4D97-AF65-F5344CB8AC3E}">
        <p14:creationId xmlns:p14="http://schemas.microsoft.com/office/powerpoint/2010/main" val="848777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A3AAA-5FE8-4F40-AB29-B709B407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E01D3-17CB-453D-B63D-36053BAF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0330A-4EEA-4468-8208-28EE8B4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882FC-AF93-4FC3-B94F-D1854D5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Phát hiện một xe chưa đủ để kết luận vi phạm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29DE9-CA13-43A4-8464-4A2BB8CD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Hệ thống phải liên kết đúng phương tiện, trạng thái đèn, vạch dừng và thời điểm cắt vạch.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06BC0-D3F4-4B8D-A825-7BECBDC4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2B2E5-A3FC-4D76-BFB5-4039237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từ camera cố định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7726B-00E7-4748-AD9B-B5D023D1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E9D2A-CA27-41D5-A7BE-DF9FA6D7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Sự kiện nghi vấn kèm ảnh bằng chứng và dữ liệu truy vết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9BFB9-4B04-426C-9DEA-E80647D416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096d593b94800"/>
          <a:srcRect xmlns:a="http://schemas.openxmlformats.org/drawingml/2006/main" l="0" t="8244" r="0" b="8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24000"/>
            <a:ext cx="5314950" cy="44386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DD43C-4495-461C-8556-86AC5468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950533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F1D50D-2DE8-4574-A7D0-B18215EAF186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191500" y="2514600"/>
            <a:ext cx="66675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F4DDB-520A-415A-A115-1B5BE612E99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91500" y="1885950"/>
            <a:ext cx="666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A94EA-9D49-465D-96A6-550AE2E64CA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52450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C192F-B6BC-4539-81CB-8E2FA1FA2AC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524500" y="1885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5728F-6F3F-4DAB-BE4F-0F1897D09F3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76550" y="2076450"/>
            <a:ext cx="64770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6DD14-08DB-47B7-91C6-9E6B1D1E40A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876550" y="1885950"/>
            <a:ext cx="6477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A1BFA5-6D80-430B-AADF-60B28BE0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Kiến trúc hệ thống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CF091-1291-48D6-A50A-7BB39CDD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Hai nhánh nhận diện hợp nhất tại bộ luật sự kiện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52370-ED2D-4038-9274-ECB0A48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C3F69-B521-4B3C-BF01-27146FD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62AF7-2ECF-4C66-BF6E-95C0A939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190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38202-27A4-4B32-836F-FDC30795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43753-3BD9-499D-BE53-70064BD8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+ cấu hình camera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87DD4-7A98-4D8C-BD5D-95946D13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869E0-2DB9-4D28-B232-D9CA315D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AFFB1-9552-4827-8150-B2558015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811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Nhận diện xe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0C21B-C69B-4B3C-9A87-FB17DCFE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B543E-D6EE-48A4-9EDE-DB85FF6E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7534F-8030-4909-98CA-67ED25E1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908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Nhận diện đèn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ROI + MobileNetV2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CFD80-3EC0-4B53-A3AC-69FF8FC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F6612-FE01-4818-8595-60B62E09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7013F-034D-4F8E-BA9B-28206739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Theo dõi ID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C8E2F-EF23-43B2-BD35-AD48C99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5D947-4EB2-448E-845C-7029FC04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20818-26A8-4C07-9FD1-7FA40DF6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08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Ổn định trạng thái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3 khung hình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28524-FDCE-4D00-906F-657199DC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238125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779C7-DC16-48F8-8EAB-94D6F19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B1CDA-9DB5-46EB-8F12-EA3A2BF1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Cắt vạch có hướng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xác nhận sự kiện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8C614-7C48-4AB3-94E0-FD62D18F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715F77-1BD8-4EC3-A9DF-A90A6959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đã gắn nhãn  ·  JSON/CSV  ·  ảnh toàn cảnh  ·  ảnh cắt phương tiện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45707F-DD14-4D77-87A6-F4ED525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Mỗi lượt chạy lưu cấu hình, hash checkpoint và trạng thái hoàn tất để có thể kiểm tra lại.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38E78-F7D1-4562-841C-A72872B6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117169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F498D-1359-4389-A9C1-3040DC4F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Các mô hình đang sử dụng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E0CB7-6AD6-4D7E-8262-F3DBDD99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0D740-87C8-49A4-A44F-E8B9F6A1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D926B-DE27-47FE-A93D-7FA64895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Phương tiện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B06AF-E771-4C03-B7CF-F3A17269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YOLO11x pretrained COCO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F06BB-FDC3-4BBB-91C9-5982E57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Phát hiện bicycle, car, motorcycle, bus và truck. Ảnh đầu vào 960, confidence 0,10.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A8AC4-B12A-4556-BD9F-06F4B198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4EC86-7733-4FDC-B2B8-EADEC7B0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Duy trì ID khi xe bị che khuất ngắn và giữ các hộp có độ tin cậy thấp cho bước liên kết.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94E46-B55C-47F3-A04B-6B8F58EFB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1dd827e4f4994"/>
          <a:stretch xmlns:a="http://schemas.openxmlformats.org/drawingml/2006/main"/>
        </p:blipFill>
        <p:spPr>
          <a:xfrm xmlns:a="http://schemas.openxmlformats.org/drawingml/2006/main">
            <a:off x="4172451" y="5143500"/>
            <a:ext cx="703847" cy="857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34904-C9A8-49C0-AF9F-D85E6E56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190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87C13-8A26-4DE4-9688-5DA33458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Đèn giao thông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F232D-5C4D-4D6C-8587-5EE7B7D8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YOLOv8s + ROI cố định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8D4EC-9BA1-4115-A8A4-B804F53F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YOLO đề xuất vùng đèn. Cấu hình camera xác nhận vùng đèn điều khiển đúng làn.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0DAB0-1B84-45E2-9CEB-1143E0A7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MobileNetV2 ONNX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38F9F-CEE2-4930-B1A7-FBFAE88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Phân loại trạng thái từ crop 224 × 224. Ngưỡng confidence 0,80; đầu ra mơ hồ chuyển thành UNKNOWN.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08B36-2A06-4D87-B08D-DFC01C9F4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44e834c2a4c85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7875" y="4981575"/>
            <a:ext cx="1571625" cy="1047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2720A-B719-4857-A013-2CE6F9EC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968593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7E659-E2AE-437F-BDE2-EBCED831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Bộ dữ liệu và thiết lập thực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8C67F-3E50-4ABE-92E9-C2584E85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Tập con COCO, cùng phép chia cho ba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ACDB0-E243-4F40-94FE-56ABCF3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DE146-A770-4E8E-9805-FEB86A56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46BA7D5-B09D-46F2-BEBA-0D79DA9BF9BB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66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b140b2ccdd4be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DA7DC-FBC4-4136-B6CB-F9D0DCAC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1.400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305A6-49AB-4470-8464-774544E6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ảnh tổng cộng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AD0D4-6DF2-4CF1-AC6A-CB68E3A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3.539 / 685 / 762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FD17D-9BCF-4D51-9212-AE841F31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đối tượng trong train / validation /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5464C-9881-4913-A6B9-5D39B5AE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5 lớp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20CE9-01C5-4996-9F7E-A30CE90E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bicycle, car, motorcycle, bus, truck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5E561-59B6-4D4A-B9F8-3230C80E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61112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E02D5-B943-4A1D-BB3B-8109E1A58BD4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48550" y="4429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418A6-AA57-4411-A125-C7AF71AE211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829050" y="4429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CC804-E078-4F14-A632-E7395F6E8093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257425" y="3048000"/>
            <a:ext cx="72390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E80DA-6503-4615-AB2B-4B640310806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48550" y="2333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06D65-F1B2-4350-A469-17B3018957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333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AEA42-6167-49EC-A4C3-EC15ABCE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Các bước xử lý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945D1-0569-4638-AD45-CE3A7D57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Luồng xử lý một video từ hiệu chỉnh đến xuất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2F263-5080-4E0D-A6D4-C07737B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AF5F2-AE8D-4FCA-AA83-CF8D17A6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30030-ACFF-4DAF-9401-26986AE5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4A5CF-6086-4151-A852-D31809D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D34F4-C75C-40EF-BD62-AFD0DC6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Nạp video và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cấu hình camera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4BD62-EA2E-4EF8-AA7B-9EB162EC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71CFE-18F6-4399-B349-F2E44F51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AA015-680A-4FCA-B76D-AEBBBFE2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Phát hiện xe,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cập nhật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7DDE9-95AE-46B2-B98F-744EDD1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05299-4347-435E-B168-491EFEA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6A709-72C3-4E88-B013-AC4B6356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Đọc trạng thái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đèn theo làn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18456-4B6C-41C9-A4D0-284076F4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2EFD2-113C-4AB9-8631-B27F0189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991D0-9156-426B-9AAE-4325E900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Tính điểm neo và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quỹ đạo có hướng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33E81-8FDC-4CF7-9D00-A60D8404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CA968-9AC2-431F-80AB-5B2EC9E7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30063-01F2-43CA-A3CE-35EE4032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Kiểm tra cắt vạch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xác nhận 3 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1E915-93BD-4316-B9C9-104E934B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7F7F4-7BB8-4D4A-A790-8546F0E8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EB3FA-641C-43A0-AD93-4754B102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Xuất video, sự kiện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ảnh bằng chứng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7D9A51-6152-426E-9AAC-301AC6C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540117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030A5-75D0-4031-BFED-251E118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Logic xác nhận vi phạm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7683A-399A-463F-B08F-280FEA7D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618C6-24FF-41F4-8796-9FC19A09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7D6F4-A84A-4CD5-BD1A-8265635DC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d2f34b9ef4109"/>
          <a:stretch xmlns:a="http://schemas.openxmlformats.org/drawingml/2006/main"/>
        </p:blipFill>
        <p:spPr>
          <a:xfrm xmlns:a="http://schemas.openxmlformats.org/drawingml/2006/main">
            <a:off x="2122488" y="1476375"/>
            <a:ext cx="3175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F6CE9-227C-4C6C-91AC-136B06EB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Sự kiện chỉ được ghi khi đủ bằng chứng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71CE3-3D43-4C84-BE30-3B990DFD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9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ID xe đã xuất hiện ở phía trước vạch.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Đoạn quỹ đạo cắt đúng đoạn vạch theo hướng giám sát.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Đèn ở trạng thái RED tại thời điểm cắt.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Xe tiếp tục ở phía sau vạch trong 3 frame.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Xe quay lại trước khi đủ xác nhận thì ứng viên bị hủy.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7E45A-DAA7-4A34-808E-D61C5F07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Frame cắt và frame xác nhận được lưu riêng để giữ đúng mốc thời gian.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A2C6E-CFF7-435D-95F2-7A9D81F2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713743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F74AB-689B-48C3-9572-382127D7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quả đánh giá detector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A6C25-1010-4577-8A39-0441E60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200 ảnh test, confidence 0,25 và IoU 0,50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0E368-F2E2-4C93-84A1-3E217EE0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F8BFA-0709-465F-8F63-F6C27A34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166DC0B-E476-42DD-B799-488EC3159F0D}"/>
              </a:ext>
            </a:extLst>
          </p:cNvPr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7524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9811ea88ce405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08266-C074-4459-B4EA-E302B8EB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YOLOv8s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DA7E3-E1E7-4CA4-9E9F-F129C1D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mAP cao nhất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19A1B-1C0A-4D47-952D-C81744CE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0,318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92AE9-3E93-4F54-8329-BEEFAD09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F1 = 0,529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CA742-8FF3-4E81-9A8E-EAC0CD13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B7D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B7D6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B7D61"/>
                </a:solidFill>
                <a:latin typeface="Arial"/>
                <a:ea typeface="Arial"/>
                <a:cs typeface="Arial"/>
              </a:rPr>
              <a:t>119,9 FPS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24616-0420-48E3-9271-31541CF6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619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Đo batch 1, FP32 trên NVIDIA H100. FPS chỉ tính detector.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40D92-5679-4B29-8361-BBC9AC78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931601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65C2B-2841-4F09-B9DA-887527E6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Tốc độ và bằng chứng sự kiện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86B0D-E75C-4423-9FDD-3657CBA1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7C769-FAFD-4984-93B0-632EF43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2FC2965-1E16-4A4F-AAA3-2835F84A1C85}"/>
              </a:ext>
            </a:extLst>
          </p:cNvPr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5334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0b189c23724cc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FBE92-DB52-44D0-8B28-23C9A5AC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SSD nhanh nhất; YOLOv8s có độ chính xác cao hơn và chỉ 11,1 triệu tham số.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6A9C3-2F66-42A7-A342-16CA01622D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62af355a44320"/>
          <a:srcRect xmlns:a="http://schemas.openxmlformats.org/drawingml/2006/main" l="12879" t="0" r="128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71625"/>
            <a:ext cx="2333625" cy="3143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CF2C6-DC82-4F0D-9C8F-4B9DBDDE0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ef0516cdc41d7"/>
          <a:srcRect xmlns:a="http://schemas.openxmlformats.org/drawingml/2006/main" l="12879" t="0" r="128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96375" y="1571625"/>
            <a:ext cx="2333625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B83EE-79CF-4182-9BD1-71D17350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Ảnh toàn cảnh giữ đồng thời phương tiện, vạch và trạng thái nút giao để người vận hành kiểm tra lại.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A44DD-7066-4087-868B-0256F1CE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5803285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EE74F-9496-4ACD-A559-104AC0E20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cc4abda144a83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24F62-B169-4556-BC26-1C9AFE00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65338-E2A9-462B-87BB-A713946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6578E-0EC2-4CDF-A7A9-3E4EFBFA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82524-8526-4E24-A716-51E3644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YOLOv8s đạt cân bằng tốt nhất trên tập thử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4BB17-5EFA-4619-B7D1-9C6886B4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6B8E"/>
                </a:solidFill>
                <a:latin typeface="Arial"/>
                <a:ea typeface="Arial"/>
                <a:cs typeface="Arial"/>
              </a:rPr>
              <a:t>mAP@0.50:0.95 = 0,318 · F1 = 0,529 · 119,9 FPS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85A0F-9691-4015-AD6F-A662318E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E7955-9826-489A-A906-7476FF55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Giới hạn cần xử lý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A0641-451F-4293-9DC4-5B828AC9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Chưa có ground truth sự kiện độc lập. Dữ liệu COCO chưa đại diện đầy đủ cho camera và giao thông Việt Nam.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579A4-3024-43FF-82AD-28F24EA8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858F1-24C3-4E62-A1D3-2D335D9B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Gán nhãn theo camera, đánh giá tracking, trạng thái đèn và F1 ở mức sự kiện.</a:t>
            </a:r>
          </a:p>
        </p:txBody>
      </p:sp>
    </p:spTree>
    <p:extLst>
      <p:ext uri="{BB962C8B-B14F-4D97-AF65-F5344CB8AC3E}">
        <p14:creationId xmlns:p14="http://schemas.microsoft.com/office/powerpoint/2010/main" val="198222772"/>
      </p:ext>
    </p:extLst>
  </p:cSld>
</p:sld>
</file>

<file path=ppt/theme/theme1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2026-10-16T02:11:13.4290000Z</dcterms:created>
  <dcterms:modified xsi:type="dcterms:W3CDTF">2026-10-16T02:11:13.4290000Z</dcterms:modified>
</coreProperties>
</file>